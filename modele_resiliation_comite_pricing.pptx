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Indice de Gini — apprentissage vs test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Apprentissage (2023–24)</c:v>
                </c:pt>
              </c:strCache>
            </c:strRef>
          </c:tx>
          <c:spPr>
            <a:solidFill>
              <a:srgbClr val="3E6DB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GLM baseline</c:v>
                  </c:pt>
                  <c:pt idx="1">
                    <c:v>GBM challenger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</c:v>
                </c:pt>
                <c:pt idx="1">
                  <c:v>0.58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hors-temps (2025)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GLM baseline</c:v>
                  </c:pt>
                  <c:pt idx="1">
                    <c:v>GBM challenger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0.42</c:v>
                </c:pt>
                <c:pt idx="1">
                  <c:v>0.51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Taux de résiliation par décile de score GLM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résiliation observé (test 2025)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34.7</c:v>
                </c:pt>
                <c:pt idx="1">
                  <c:v>21.3</c:v>
                </c:pt>
                <c:pt idx="2">
                  <c:v>16.4</c:v>
                </c:pt>
                <c:pt idx="3">
                  <c:v>13.2</c:v>
                </c:pt>
                <c:pt idx="4">
                  <c:v>11</c:v>
                </c:pt>
                <c:pt idx="5">
                  <c:v>9.3</c:v>
                </c:pt>
                <c:pt idx="6">
                  <c:v>7.6</c:v>
                </c:pt>
                <c:pt idx="7">
                  <c:v>5.9</c:v>
                </c:pt>
                <c:pt idx="8">
                  <c:v>4.1</c:v>
                </c:pt>
                <c:pt idx="9">
                  <c:v>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Élasticité prix — taux de résiliation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résiliation observé</c:v>
                </c:pt>
              </c:strCache>
            </c:strRef>
          </c:tx>
          <c:spPr>
            <a:solidFill>
              <a:srgbClr val="E8A33D"/>
            </a:solidFill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&lt; -5%</c:v>
                  </c:pt>
                  <c:pt idx="1">
                    <c:v>-5 à 0%</c:v>
                  </c:pt>
                  <c:pt idx="2">
                    <c:v>0 à +5%</c:v>
                  </c:pt>
                  <c:pt idx="3">
                    <c:v>+5 à +10%</c:v>
                  </c:pt>
                  <c:pt idx="4">
                    <c:v>+10 à +15%</c:v>
                  </c:pt>
                  <c:pt idx="5">
                    <c:v>&gt; +15%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</c:v>
                </c:pt>
                <c:pt idx="1">
                  <c:v>9.6</c:v>
                </c:pt>
                <c:pt idx="2">
                  <c:v>11.8</c:v>
                </c:pt>
                <c:pt idx="3">
                  <c:v>14.9</c:v>
                </c:pt>
                <c:pt idx="4">
                  <c:v>19.3</c:v>
                </c:pt>
                <c:pt idx="5">
                  <c:v>26.1</c:v>
                </c:pt>
              </c:numCache>
            </c:numRef>
          </c:val>
          <c:smooth val="1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B6B80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5B6B80"/>
                    </a:solidFill>
                    <a:latin typeface="Arial"/>
                  </a:rPr>
                  <a:t>Variation de prime au renouvellement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Contribution au Gini du GLM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Contacts entrants 12m</c:v>
                  </c:pt>
                  <c:pt idx="1">
                    <c:v>Sinistres 24 mois</c:v>
                  </c:pt>
                  <c:pt idx="2">
                    <c:v>Multi-détention</c:v>
                  </c:pt>
                  <c:pt idx="3">
                    <c:v>Âge conducteur</c:v>
                  </c:pt>
                  <c:pt idx="4">
                    <c:v>Prime vs marché</c:v>
                  </c:pt>
                  <c:pt idx="5">
                    <c:v>Canal de distribution</c:v>
                  </c:pt>
                  <c:pt idx="6">
                    <c:v>Ancienneté client</c:v>
                  </c:pt>
                  <c:pt idx="7">
                    <c:v>Δ prime renouvellement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11</c:v>
                </c:pt>
                <c:pt idx="5">
                  <c:v>12</c:v>
                </c:pt>
                <c:pt idx="6">
                  <c:v>17</c:v>
                </c:pt>
                <c:pt idx="7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937760" cy="4937760"/>
          </a:xfrm>
          <a:prstGeom prst="ellipse">
            <a:avLst/>
          </a:prstGeom>
          <a:solidFill>
            <a:srgbClr val="24355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749040"/>
            <a:ext cx="3840480" cy="3840480"/>
          </a:xfrm>
          <a:prstGeom prst="ellipse">
            <a:avLst/>
          </a:prstGeom>
          <a:solidFill>
            <a:srgbClr val="2435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326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F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ACTUARIAT  ·  ÉQUIPE DATA SCIENCE 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résiliation tarifaire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renouvellement — Automobile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du projet et résultats du modèle baseline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29260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résiliation au renouvellement est un levier majeur de valeur : la modéliser est un prérequis à toute stratégie tarifaire différenciée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092" y="1536924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17320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hausse tarifaire au renouvellement arbitre entre marge et rétention. Sans modèle, cet arbitrage repose sur des règles expertes non quantifiées.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29514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92" y="2387316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267712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 ?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(décision des majorations), Actuariat produit (optimisation tarifaire) et Distribution (ciblage des actions de rétention).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31455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" y="3237708"/>
            <a:ext cx="199705" cy="1997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118104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?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calculé à chaque avis d'échéance (J-90), en amont de l'émission de l'offre de renouvellement — cible d'intégration : campagne T1 2027.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2920" y="399592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92" y="4088100"/>
            <a:ext cx="199705" cy="19970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968496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?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probabiliste de résiliation client, intégrant l'élasticité prix, destiné à alimenter un moteur d'optimisation prime / rétention.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03504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263640" y="1572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F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PORTEFEUILLE AUTO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263640" y="1874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12,4 %</a:t>
            </a:r>
            <a:endParaRPr lang="en-US" sz="2500" dirty="0"/>
          </a:p>
        </p:txBody>
      </p:sp>
      <p:sp>
        <p:nvSpPr>
          <p:cNvPr id="21" name="Text 15"/>
          <p:cNvSpPr/>
          <p:nvPr/>
        </p:nvSpPr>
        <p:spPr>
          <a:xfrm>
            <a:off x="6263640" y="2258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résiliation à échéance (2025)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263640" y="2788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105 K</a:t>
            </a:r>
            <a:endParaRPr lang="en-US" sz="2500" dirty="0"/>
          </a:p>
        </p:txBody>
      </p:sp>
      <p:sp>
        <p:nvSpPr>
          <p:cNvPr id="23" name="Text 17"/>
          <p:cNvSpPr/>
          <p:nvPr/>
        </p:nvSpPr>
        <p:spPr>
          <a:xfrm>
            <a:off x="6263640" y="3172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perdus par an au renouvellement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263640" y="3703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6</a:t>
            </a:r>
            <a:endParaRPr lang="en-US" sz="2500" dirty="0"/>
          </a:p>
        </p:txBody>
      </p:sp>
      <p:sp>
        <p:nvSpPr>
          <p:cNvPr id="25" name="Text 19"/>
          <p:cNvSpPr/>
          <p:nvPr/>
        </p:nvSpPr>
        <p:spPr>
          <a:xfrm>
            <a:off x="6263640" y="4087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d'acquisition vs coût de rétention d'un client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DU PROJET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est à mi-parcours : la baseline est livrée dans les délais, l'industrialisation démarre au T4 2026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2002536"/>
            <a:ext cx="77724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1828800"/>
            <a:ext cx="347472" cy="3474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Fév. – Mars 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15910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054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revue métier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809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Périmètre, définition cible, ateliers pricing &amp; distribution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15768" y="1828800"/>
            <a:ext cx="347472" cy="3474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48840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Avr. – Mai 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48840" y="2395728"/>
            <a:ext cx="15910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40280" y="25054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données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29809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Datamart échéances, contrôles qualité, variables candidates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61688" y="182880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4361688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– Juil. 26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2395728"/>
            <a:ext cx="1591056" cy="1572768"/>
          </a:xfrm>
          <a:prstGeom prst="roundRect">
            <a:avLst>
              <a:gd name="adj" fmla="val 3488"/>
            </a:avLst>
          </a:prstGeom>
          <a:solidFill>
            <a:srgbClr val="F2F6FB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86200" y="25054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baseline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86200" y="29809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logistique + challenger GBM, validation actuarielle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07608" y="1828800"/>
            <a:ext cx="347472" cy="347472"/>
          </a:xfrm>
          <a:prstGeom prst="ellipse">
            <a:avLst/>
          </a:prstGeom>
          <a:solidFill>
            <a:srgbClr val="B9C6D8"/>
          </a:solidFill>
          <a:ln/>
        </p:spPr>
      </p:sp>
      <p:sp>
        <p:nvSpPr>
          <p:cNvPr id="26" name="Text 24"/>
          <p:cNvSpPr/>
          <p:nvPr/>
        </p:nvSpPr>
        <p:spPr>
          <a:xfrm>
            <a:off x="6007608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– Nov. 26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0680" y="2395728"/>
            <a:ext cx="15910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32120" y="25054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29809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scoring, monitoring, documentation modèle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53528" y="1828800"/>
            <a:ext cx="347472" cy="347472"/>
          </a:xfrm>
          <a:prstGeom prst="ellipse">
            <a:avLst/>
          </a:prstGeom>
          <a:solidFill>
            <a:srgbClr val="B9C6D8"/>
          </a:solidFill>
          <a:ln/>
        </p:spPr>
      </p:sp>
      <p:sp>
        <p:nvSpPr>
          <p:cNvPr id="32" name="Text 30"/>
          <p:cNvSpPr/>
          <p:nvPr/>
        </p:nvSpPr>
        <p:spPr>
          <a:xfrm>
            <a:off x="7653528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Déc. 26 – Fév. 27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86600" y="2395728"/>
            <a:ext cx="15910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78040" y="25054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pricing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78040" y="29809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au moteur d'optimisation, pilote campagne T1 27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370832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8" name="Text 36"/>
          <p:cNvSpPr/>
          <p:nvPr/>
        </p:nvSpPr>
        <p:spPr>
          <a:xfrm>
            <a:off x="722376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74520" y="437083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0" name="Text 38"/>
          <p:cNvSpPr/>
          <p:nvPr/>
        </p:nvSpPr>
        <p:spPr>
          <a:xfrm>
            <a:off x="2093976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— objet de ce comité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26280" y="4370832"/>
            <a:ext cx="146304" cy="146304"/>
          </a:xfrm>
          <a:prstGeom prst="ellipse">
            <a:avLst/>
          </a:prstGeom>
          <a:solidFill>
            <a:srgbClr val="B9C6D8"/>
          </a:solidFill>
          <a:ln/>
        </p:spPr>
      </p:sp>
      <p:sp>
        <p:nvSpPr>
          <p:cNvPr id="42" name="Text 40"/>
          <p:cNvSpPr/>
          <p:nvPr/>
        </p:nvSpPr>
        <p:spPr>
          <a:xfrm>
            <a:off x="4745736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DÉFINITION DE LA CIBLE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862 K avis d'échéance sur 3 ans, avec une cible centrée sur la résiliation à l'initiative du client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D'ÉTUDE (2023 – 2025)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700784"/>
            <a:ext cx="3977640" cy="512064"/>
          </a:xfrm>
          <a:prstGeom prst="roundRect">
            <a:avLst>
              <a:gd name="adj" fmla="val 8929"/>
            </a:avLst>
          </a:prstGeom>
          <a:solidFill>
            <a:srgbClr val="F2F6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078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1 018 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36192" y="170078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d'échéance émis — portefeuille auto particuliers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3657600" cy="512064"/>
          </a:xfrm>
          <a:prstGeom prst="roundRect">
            <a:avLst>
              <a:gd name="adj" fmla="val 8929"/>
            </a:avLst>
          </a:prstGeom>
          <a:solidFill>
            <a:srgbClr val="F2F6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0428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941 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536192" y="230428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résiliations à l'initiative de l'assureur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907792"/>
            <a:ext cx="3337560" cy="512064"/>
          </a:xfrm>
          <a:prstGeom prst="roundRect">
            <a:avLst>
              <a:gd name="adj" fmla="val 8929"/>
            </a:avLst>
          </a:prstGeom>
          <a:solidFill>
            <a:srgbClr val="F2F6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0779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893 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36192" y="29077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ventes / destructions de véhicule et décès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3017520" cy="512064"/>
          </a:xfrm>
          <a:prstGeom prst="roundRect">
            <a:avLst>
              <a:gd name="adj" fmla="val 892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1129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862 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36192" y="3511296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modélisation finale (contrats éligibles)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16966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 :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2023–2024, test hors-temps 2025 — pas de fuite d'information entre échéances.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371600"/>
            <a:ext cx="38404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57276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1372" y="1664940"/>
            <a:ext cx="199705" cy="19970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532120" y="16093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(binaire)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0" y="208483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Résiliation à l'initiative du client,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dans la fenêtre [échéance − 60 j ; échéance + 30 j], tous motifs client confondus (loi Hamon, échéance, concurrence).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0" y="29260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cible observé :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12,4 %</a:t>
            </a:r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(stable sur la période : 11,9 % → 13,1 %)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0" y="3310128"/>
            <a:ext cx="3383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0" y="34015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variables candidates — 5 familles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0" y="36393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: variation de prime, positionnement vs marché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: ancienneté, âge, multi-détention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: formule, franchise, canal de souscription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Sinistralité : fréquence et coût sur 24 mois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: réclamations, contacts entrants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MÉTHODOLOGIQUE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démarche en quatre étapes, encadrée par des principes actuariels garantissant robustesse et auditabilité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883664" cy="1828800"/>
          </a:xfrm>
          <a:prstGeom prst="roundRect">
            <a:avLst>
              <a:gd name="adj" fmla="val 3500"/>
            </a:avLst>
          </a:prstGeom>
          <a:solidFill>
            <a:srgbClr val="F2F6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160934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85" y="1705905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64592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Préparation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9224" y="2121408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Datamart à la maille avis d'échéance ; traitement des manquants ; discrétisation supervisée des continues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286000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06040" y="1463040"/>
            <a:ext cx="1883664" cy="1828800"/>
          </a:xfrm>
          <a:prstGeom prst="roundRect">
            <a:avLst>
              <a:gd name="adj" fmla="val 3500"/>
            </a:avLst>
          </a:prstGeom>
          <a:solidFill>
            <a:srgbClr val="F2F6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52344" y="160934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905" y="1705905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46120" y="164592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Sélection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2752344" y="2121408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pouvoir prédictif (IV, Gini univarié), corrélations et stabilité temporelle (PSI &lt; 0,10)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86000"/>
            <a:ext cx="146304" cy="14630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709160" y="1463040"/>
            <a:ext cx="1883664" cy="1828800"/>
          </a:xfrm>
          <a:prstGeom prst="roundRect">
            <a:avLst>
              <a:gd name="adj" fmla="val 3500"/>
            </a:avLst>
          </a:prstGeom>
          <a:solidFill>
            <a:srgbClr val="F2F6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55464" y="160934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025" y="1705905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164592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Modélisation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855464" y="2121408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logistique interprétable (baseline) ; GBM en challenger pour borner la performance atteignable</a:t>
            </a:r>
            <a:endParaRPr lang="en-US" sz="9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286000"/>
            <a:ext cx="146304" cy="14630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812280" y="1463040"/>
            <a:ext cx="1883664" cy="1828800"/>
          </a:xfrm>
          <a:prstGeom prst="roundRect">
            <a:avLst>
              <a:gd name="adj" fmla="val 3500"/>
            </a:avLst>
          </a:prstGeom>
          <a:solidFill>
            <a:srgbClr val="F2F6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958584" y="160934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5145" y="1705905"/>
            <a:ext cx="209215" cy="20921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52360" y="164592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Validation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6958584" y="2121408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hors-temps 2025, calibration par segment, revue des effets marginaux avec l'actuariat produit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  <a:ln/>
        </p:spPr>
      </p:sp>
      <p:sp>
        <p:nvSpPr>
          <p:cNvPr id="30" name="Text 21"/>
          <p:cNvSpPr/>
          <p:nvPr/>
        </p:nvSpPr>
        <p:spPr>
          <a:xfrm>
            <a:off x="731520" y="3657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F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ACTUARIELS RETENUS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731520" y="3931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 —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marginaux explicables au régulateur et au réseau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3383280" y="3931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Monotonie —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sur la variation de prime (sens économique)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6035040" y="3931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—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jugée uniquement hors-temps (2025)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DÉVELOPPÉE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GLM logistique à 14 variables, volontairement parcimonieux, confronté à un challenger GBM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72768"/>
            <a:ext cx="1600200" cy="27432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RETENUE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 — Régression logistique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304288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variables retenues (sur 62 candidates), toutes discrétisées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de monotonie sur la variation de prime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ciblées : Δ prime × ancienneté ; Δ prime × canal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revus variable par variable avec l'actuariat produit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probabilité de résiliation par contrat à J-90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de production, auditable et directement intégrable au moteur tarifaire.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2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572768"/>
            <a:ext cx="1600200" cy="274320"/>
          </a:xfrm>
          <a:prstGeom prst="roundRect">
            <a:avLst>
              <a:gd name="adj" fmla="val 13333"/>
            </a:avLst>
          </a:prstGeom>
          <a:solidFill>
            <a:srgbClr val="3E6DB5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GBM — Gradient Boosting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304288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données et même split temporel que le GLM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variables candidates, hyperparamètres par validation croisée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de monotonie identiques sur les variables tarifaires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d'importance et d'effets partiels pour éclairer le GLM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 haute de performance et détection d'effets non linéaires à réinjecter dans la baseline.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RÉSULTATS — POUVOIR DISCRIMINANT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baseline atteint un Gini de 0,42 hors-temps ; le challenger GBM situe le potentiel résiduel à environ +9 pts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554480"/>
          <a:ext cx="46634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554480"/>
            <a:ext cx="3154680" cy="896112"/>
          </a:xfrm>
          <a:prstGeom prst="roundRect">
            <a:avLst>
              <a:gd name="adj" fmla="val 6122"/>
            </a:avLst>
          </a:prstGeom>
          <a:solidFill>
            <a:srgbClr val="F2F6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50992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0,71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50992" y="1901952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en test hors-temps — niveau conforme aux standards marché pour un modèle de résiliation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0" y="2578608"/>
            <a:ext cx="3154680" cy="896112"/>
          </a:xfrm>
          <a:prstGeom prst="roundRect">
            <a:avLst>
              <a:gd name="adj" fmla="val 6122"/>
            </a:avLst>
          </a:prstGeom>
          <a:solidFill>
            <a:srgbClr val="F2F6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50992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Sur-apprentissage contenu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50992" y="292608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train / test de 3 pts de Gini pour le GLM, contre 7 pts pour le GBM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3602736"/>
            <a:ext cx="3154680" cy="896112"/>
          </a:xfrm>
          <a:prstGeom prst="roundRect">
            <a:avLst>
              <a:gd name="adj" fmla="val 6122"/>
            </a:avLst>
          </a:prstGeom>
          <a:solidFill>
            <a:srgbClr val="F2F6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50992" y="3675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7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 pts de Gini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50992" y="395020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 additionnel identifié par le GBM — principalement des non-linéarités sur Δ prime et ancienneté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RÉSULTATS — CAPACITÉ DE CIBLAGE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décile le plus risqué concentre un taux de résiliation de 35 % — soit 2,8 fois la moyenne du portefeuille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55448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3310128"/>
            <a:ext cx="448056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3794760" y="30906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portefeuille : 12,4 %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89320" y="1554480"/>
            <a:ext cx="2651760" cy="3017520"/>
          </a:xfrm>
          <a:prstGeom prst="roundRect">
            <a:avLst>
              <a:gd name="adj" fmla="val 241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99632" y="1737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OPÉRATIONNELLE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99632" y="202996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 des contrats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(D1–D2) concentrent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 des résiliations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observées en 2025.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99632" y="3017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permet dès aujourd'hui de moduler les majorations et de prioriser les actions de rétention sur les segments à forte valeur.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99632" y="40416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i="1" dirty="0">
                <a:solidFill>
                  <a:srgbClr val="9F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: ratio prédit / observé entre 0,95 et 1,06 sur les 10 déciles.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RÉSULTATS — DRIVERS DE LA RÉSILIATION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variation de prime au renouvellement est le premier facteur explicatif : au-delà de +10 %, le taux de résiliation double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55448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983480" y="15544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validés en atelier avec l'actuariat produit — cohérents avec l'intuition métier et la littérature marché.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ENSEIGNEMENTS CLÉS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convictions se dégagent de la phase baseline et orientent la suite du projet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2F6FB"/>
          </a:solidFill>
          <a:ln w="12700">
            <a:solidFill>
              <a:srgbClr val="3E6DB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160934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96" y="1701516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910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L'élasticité prix est mesurable et exploitable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9224" y="20848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relation Δ prime / résiliation est forte, monotone et stable sur 3 ans : elle peut alimenter un moteur d'optimisation dès la baseline.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709160" y="1463040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55464" y="160934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636" y="1701516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5910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L'hétérogénéité client est majeure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55464" y="20848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hausse tarifaire égale, la sensibilité varie du simple au triple selon l'ancienneté et le canal — une tarification uniforme détruit de la valeur.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502920" y="3063240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" y="320954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96" y="3301716"/>
            <a:ext cx="199705" cy="1997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1912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GLM parcimonieux capte l'essentiel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9224" y="36850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variables suffisent pour 80 % de la performance du GBM, avec une auditabilité totale — un bon compromis pour la mise en production.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4709160" y="3063240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55464" y="320954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636" y="3301716"/>
            <a:ext cx="199705" cy="19970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31912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potentiel résiduel est identifié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55464" y="36850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gains du GBM se concentrent sur des non-linéarités précises (Δ prime × ancienneté), intégrables au GLM via splines et interactions.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MODÈLE BASELINE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limites identifiées et documentées, chacune assortie d'une mesure de mitigation planifiée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80360" y="14173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728216"/>
            <a:ext cx="8138160" cy="7223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Élasticité observationnelle, non causale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880360" y="1783080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variations de prime historiques ne sont pas aléatoires (corrélées au risque) : l'élasticité estimée peut être biaisée pour la simulation tarifaire.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1783080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B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A/B tarifaire encadré sur la campagne T1 2027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05456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concurrentiel non capté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2880360" y="2505456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positionnement prix vs marché repose sur un relevé trimestriel agrégé, sans granularité par profil ni comparateurs en temps réel.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505456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B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 données comparateurs (phase 2)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8138160" cy="7223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27832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Résiliation infra-annuelle hors périmètre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2880360" y="322783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Hamon en cours d'année (≈ 3,1 % du portefeuille) n'est pas modélisée ; le score couvre uniquement la fenêtre d'échéance.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3227832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B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dédié envisagé après industrialisation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950208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en régime inflationniste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2880360" y="3950208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période d'apprentissage inclut le choc tarifaire 2023–24 ; la transposition à un contexte d'inflation modérée doit être surveillée.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50208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B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trimestriel PSI + recalibration annuelle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chantiers d'ici fin 2026, et deux décisions demandées au comité aujourd'hui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Pricing — Confidentiel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15184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160934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85" y="1705905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1288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la baseline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9224" y="21214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Splines et interactions issues du GBM ; objectif Gini ≥ 0,47 hors-temps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649224" y="28529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– Oct. 2026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00984" y="1463040"/>
            <a:ext cx="2615184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7288" y="160934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849" y="1705905"/>
            <a:ext cx="209215" cy="2092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9352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le scoring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47288" y="21214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mensuel à J-90, monitoring PSI / calibration, documentation modèle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3447288" y="28529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Oct. – Nov. 2026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99048" y="1463040"/>
            <a:ext cx="2615184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45352" y="160934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913" y="1705905"/>
            <a:ext cx="209215" cy="2092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57416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Coupler au pricing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45352" y="21214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d'optimisation prime / rétention sous contraintes de PNB et de loss ratio</a:t>
            </a:r>
            <a:endParaRPr lang="en-US" sz="980" dirty="0"/>
          </a:p>
        </p:txBody>
      </p:sp>
      <p:sp>
        <p:nvSpPr>
          <p:cNvPr id="23" name="Text 18"/>
          <p:cNvSpPr/>
          <p:nvPr/>
        </p:nvSpPr>
        <p:spPr>
          <a:xfrm>
            <a:off x="6245352" y="28529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 – Déc. 2026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02920" y="3401568"/>
            <a:ext cx="8138160" cy="1207008"/>
          </a:xfrm>
          <a:prstGeom prst="roundRect">
            <a:avLst>
              <a:gd name="adj" fmla="val 5303"/>
            </a:avLst>
          </a:prstGeom>
          <a:solidFill>
            <a:srgbClr val="1B2A4A"/>
          </a:solidFill>
          <a:ln/>
        </p:spPr>
      </p:sp>
      <p:sp>
        <p:nvSpPr>
          <p:cNvPr id="25" name="Text 20"/>
          <p:cNvSpPr/>
          <p:nvPr/>
        </p:nvSpPr>
        <p:spPr>
          <a:xfrm>
            <a:off x="731520" y="35295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F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DEMANDÉES AU COMITÉ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5840" y="38221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la baseline GLM </a:t>
            </a:r>
            <a:pPr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modèle de référence pour l'industrialisation (T4 2026).</a:t>
            </a:r>
            <a:endParaRPr lang="en-US" sz="11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24528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05840" y="41696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le principe d'un test A/B tarifaire </a:t>
            </a:r>
            <a:pPr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campagne T1 2027 pour fiabiliser l'élasticité prix.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de résiliation au renouvellement — Auto</dc:title>
  <dc:subject>PptxGenJS Presentation</dc:subject>
  <dc:creator>Direction Actuariat</dc:creator>
  <cp:lastModifiedBy>Direction Actuariat</cp:lastModifiedBy>
  <cp:revision>1</cp:revision>
  <dcterms:created xsi:type="dcterms:W3CDTF">2026-07-05T13:52:49Z</dcterms:created>
  <dcterms:modified xsi:type="dcterms:W3CDTF">2026-07-05T13:52:49Z</dcterms:modified>
</cp:coreProperties>
</file>